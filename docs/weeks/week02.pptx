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7" Type="http://schemas.openxmlformats.org/officeDocument/2006/relationships/viewProps" Target="viewProps.xml" /><Relationship Id="rId46" Type="http://schemas.openxmlformats.org/officeDocument/2006/relationships/presProps" Target="presProps.xml" /><Relationship Id="rId1" Type="http://schemas.openxmlformats.org/officeDocument/2006/relationships/slideMaster" Target="slideMasters/slideMaster1.xml" /><Relationship Id="rId49" Type="http://schemas.openxmlformats.org/officeDocument/2006/relationships/tableStyles" Target="tableStyles.xml" /><Relationship Id="rId48"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statistics calls for questions where we explore difference or change. We use variation to understand differences within or between a set (or sets) of measurements.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Notes from </a:t>
            </a:r>
            <a:r>
              <a:rPr b="1" i="1"/>
              <a:t>Pelham (2013)</a:t>
            </a:r>
            <a:r>
              <a:rPr b="1"/>
              <a:t> reading</a:t>
            </a:r>
          </a:p>
          <a:p>
            <a:pPr lvl="0" indent="0" marL="0">
              <a:buNone/>
            </a:pPr>
            <a:r>
              <a:rPr/>
              <a:t>“Statistics are a set of mathematical procedures for summarizing and interpreting observations” (p.5).</a:t>
            </a:r>
          </a:p>
          <a:p>
            <a:pPr lvl="0" indent="0" marL="0">
              <a:buNone/>
            </a:pPr>
            <a:r>
              <a:rPr b="1"/>
              <a:t>Descriptive statistics</a:t>
            </a:r>
            <a:r>
              <a:rPr/>
              <a:t> vs. </a:t>
            </a:r>
            <a:r>
              <a:rPr b="1"/>
              <a:t>Inferential statistics</a:t>
            </a:r>
          </a:p>
          <a:p>
            <a:pPr lvl="0" indent="0" marL="0">
              <a:buNone/>
            </a:pPr>
            <a:r>
              <a:rPr/>
              <a:t>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Descritpve measures</a:t>
            </a:r>
          </a:p>
          <a:p>
            <a:pPr lvl="0"/>
            <a:r>
              <a:rPr/>
              <a:t>Central tendency: the “average” of a set of observations (i.e., mean, median, mode)</a:t>
            </a:r>
          </a:p>
          <a:p>
            <a:pPr lvl="0"/>
            <a:r>
              <a:rPr/>
              <a:t>Dispersion: how data vary (i.e., range, variance, standard deviation)</a:t>
            </a:r>
          </a:p>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br/>
            <a:r>
              <a:rPr>
                <a:solidFill>
                  <a:srgbClr val="003B4F"/>
                </a:solidFill>
                <a:latin typeface="Courier"/>
              </a:rPr>
              <a:t>m</a:t>
            </a:r>
          </a:p>
          <a:p>
            <a:pPr lvl="0" indent="0">
              <a:buNone/>
            </a:pPr>
            <a:r>
              <a:rPr>
                <a:latin typeface="Courier"/>
              </a:rPr>
              <a:t>[1] 3</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a:p>
                <a:pPr lvl="0" indent="0" marL="0">
                  <a:buNone/>
                </a:pPr>
                <a14:m>
                  <m:oMathPara xmlns:m="http://schemas.openxmlformats.org/officeDocument/2006/math">
                    <m:oMathParaPr>
                      <m:jc m:val="center"/>
                    </m:oMathParaPr>
                    <m:oMath>
                      <m:r>
                        <m:t>S</m:t>
                      </m:r>
                      <m:r>
                        <m:rPr>
                          <m:sty m:val="p"/>
                        </m:rPr>
                        <m:t>=</m:t>
                      </m:r>
                      <m:rad>
                        <m:radPr>
                          <m:degHide m:val="1"/>
                        </m:radPr>
                        <m:deg/>
                        <m:e>
                          <m:f>
                            <m:fPr>
                              <m:type m:val="bar"/>
                            </m:fPr>
                            <m:num>
                              <m:r>
                                <m:t>Σ</m:t>
                              </m:r>
                              <m:sSup>
                                <m:e>
                                  <m:d>
                                    <m:dPr>
                                      <m:begChr m:val="("/>
                                      <m:endChr m:val=")"/>
                                      <m:sepChr m:val=""/>
                                      <m:grow/>
                                    </m:dPr>
                                    <m:e>
                                      <m:r>
                                        <m:t>x</m:t>
                                      </m:r>
                                      <m:r>
                                        <m:rPr>
                                          <m:sty m:val="p"/>
                                        </m:rPr>
                                        <m:t>−</m:t>
                                      </m:r>
                                      <m:r>
                                        <m:t>m</m:t>
                                      </m:r>
                                    </m:e>
                                  </m:d>
                                </m:e>
                                <m:sup>
                                  <m:r>
                                    <m:t>2</m:t>
                                  </m:r>
                                </m:sup>
                              </m:sSup>
                            </m:num>
                            <m:den>
                              <m:r>
                                <m:t>n</m:t>
                              </m:r>
                            </m:den>
                          </m:f>
                        </m:e>
                      </m:rad>
                    </m:oMath>
                  </m:oMathPara>
                </a14:m>
              </a:p>
              <a:p>
                <a:pPr lvl="0" indent="0" marL="0">
                  <a:spcBef>
                    <a:spcPts val="3000"/>
                  </a:spcBef>
                  <a:buNone/>
                </a:pPr>
                <a:r>
                  <a:rPr b="1"/>
                  <a:t>EXAMPLE – Standard deviation of a set</a:t>
                </a:r>
              </a:p>
              <a:p>
                <a:pPr lvl="0" indent="0" marL="0">
                  <a:buNone/>
                </a:pPr>
                <a:r>
                  <a:rPr/>
                  <a:t>Assume we have a small set of data: 2, 2, 4, 4. Using the formula for standard deviation above, where </a:t>
                </a:r>
                <a14:m>
                  <m:oMath xmlns:m="http://schemas.openxmlformats.org/officeDocument/2006/math">
                    <m:r>
                      <m:t>x</m:t>
                    </m:r>
                  </m:oMath>
                </a14:m>
                <a:r>
                  <a:rPr/>
                  <a:t> is the score, </a:t>
                </a:r>
                <a14:m>
                  <m:oMath xmlns:m="http://schemas.openxmlformats.org/officeDocument/2006/math">
                    <m:r>
                      <m:t>m</m:t>
                    </m:r>
                  </m:oMath>
                </a14:m>
                <a:r>
                  <a:rPr/>
                  <a:t> is the mean (sometimes referred to as </a:t>
                </a:r>
                <a14:m>
                  <m:oMath xmlns:m="http://schemas.openxmlformats.org/officeDocument/2006/math">
                    <m:acc>
                      <m:accPr>
                        <m:chr m:val="‾"/>
                      </m:accPr>
                      <m:e>
                        <m:r>
                          <m:t>x</m:t>
                        </m:r>
                      </m:e>
                    </m:acc>
                  </m:oMath>
                </a14:m>
                <a:r>
                  <a:rPr/>
                  <a:t>), and </a:t>
                </a:r>
                <a14:m>
                  <m:oMath xmlns:m="http://schemas.openxmlformats.org/officeDocument/2006/math">
                    <m:r>
                      <m:t>n</m:t>
                    </m:r>
                  </m:oMath>
                </a14:m>
                <a:r>
                  <a:rPr/>
                  <a:t> is the sample size, we get the following:</a:t>
                </a:r>
              </a:p>
              <a:p>
                <a:pPr lvl="0" indent="0" marL="0">
                  <a:buNone/>
                </a:pPr>
                <a14:m>
                  <m:oMathPara xmlns:m="http://schemas.openxmlformats.org/officeDocument/2006/math">
                    <m:oMathParaPr>
                      <m:jc m:val="center"/>
                    </m:oMathParaPr>
                    <m:oMath>
                      <m:f>
                        <m:fPr>
                          <m:type m:val="bar"/>
                        </m:fPr>
                        <m:num>
                          <m:sSup>
                            <m:e>
                              <m:d>
                                <m:dPr>
                                  <m:begChr m:val="("/>
                                  <m:endChr m:val=")"/>
                                  <m:sepChr m:val=""/>
                                  <m:grow/>
                                </m:dPr>
                                <m:e>
                                  <m:r>
                                    <m:t>2</m:t>
                                  </m:r>
                                  <m:r>
                                    <m:rPr>
                                      <m:sty m:val="p"/>
                                    </m:rPr>
                                    <m:t>−</m:t>
                                  </m:r>
                                  <m:r>
                                    <m:t>3</m:t>
                                  </m:r>
                                </m:e>
                              </m:d>
                            </m:e>
                            <m:sup>
                              <m:r>
                                <m:t>2</m:t>
                              </m:r>
                            </m:sup>
                          </m:sSup>
                          <m:r>
                            <m:rPr>
                              <m:sty m:val="p"/>
                            </m:rPr>
                            <m:t>+</m:t>
                          </m:r>
                          <m:sSup>
                            <m:e>
                              <m:d>
                                <m:dPr>
                                  <m:begChr m:val="("/>
                                  <m:endChr m:val=")"/>
                                  <m:sepChr m:val=""/>
                                  <m:grow/>
                                </m:dPr>
                                <m:e>
                                  <m:r>
                                    <m:t>2</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num>
                        <m:den>
                          <m:r>
                            <m:t>4</m:t>
                          </m:r>
                        </m:den>
                      </m:f>
                      <m:r>
                        <m:rPr>
                          <m:sty m:val="p"/>
                        </m:rPr>
                        <m:t>=</m:t>
                      </m:r>
                      <m:f>
                        <m:fPr>
                          <m:type m:val="bar"/>
                        </m:fPr>
                        <m:num>
                          <m:r>
                            <m:t>1</m:t>
                          </m:r>
                          <m:r>
                            <m:rPr>
                              <m:sty m:val="p"/>
                            </m:rPr>
                            <m:t>+</m:t>
                          </m:r>
                          <m:r>
                            <m:t>1</m:t>
                          </m:r>
                          <m:r>
                            <m:rPr>
                              <m:sty m:val="p"/>
                            </m:rPr>
                            <m:t>+</m:t>
                          </m:r>
                          <m:r>
                            <m:t>1</m:t>
                          </m:r>
                          <m:r>
                            <m:rPr>
                              <m:sty m:val="p"/>
                            </m:rPr>
                            <m:t>+</m:t>
                          </m:r>
                          <m:r>
                            <m:t>1</m:t>
                          </m:r>
                        </m:num>
                        <m:den>
                          <m:r>
                            <m:t>4</m:t>
                          </m:r>
                        </m:den>
                      </m:f>
                      <m:r>
                        <m:rPr>
                          <m:sty m:val="p"/>
                        </m:rPr>
                        <m:t>=</m:t>
                      </m:r>
                      <m:r>
                        <m:t>1</m:t>
                      </m:r>
                    </m:oMath>
                  </m:oMathPara>
                </a14:m>
              </a:p>
              <a:p>
                <a:pPr lvl="0" indent="0" marL="0">
                  <a:buNone/>
                </a:pPr>
                <a:r>
                  <a:rPr/>
                  <a:t>Most formulas of this nature are programmed into </a:t>
                </a:r>
                <a:r>
                  <a:rPr i="1"/>
                  <a:t>R/RStudio</a:t>
                </a:r>
                <a:r>
                  <a:rPr/>
                  <a:t>, but for more advanced modeling, we learn how to input raw data and formula into the software.</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quantification of information can help us understand and represent important situations. We’ll begin by exploring the concept of a set, and how it is defined in mathematics and used to frame various situations.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1"/>
                      </m:radPr>
                      <m:deg/>
                      <m:e>
                        <m:r>
                          <m:t>2</m:t>
                        </m:r>
                      </m:e>
                    </m:rad>
                  </m:oMath>
                </a14:m>
                <a:r>
                  <a:rPr sz="2000"/>
                  <a:t>, </a:t>
                </a:r>
                <a14:m>
                  <m:oMath xmlns:m="http://schemas.openxmlformats.org/officeDocument/2006/math">
                    <m:rad>
                      <m:radPr>
                        <m:degHide m:val="1"/>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1"/>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Paper 1 is due on Monday September 16 at 11:59pm ET</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2</dc:title>
  <dc:creator>Nathan Alexander, PhD</dc:creator>
  <cp:keywords/>
  <dcterms:created xsi:type="dcterms:W3CDTF">2024-09-04T21:09:15Z</dcterms:created>
  <dcterms:modified xsi:type="dcterms:W3CDTF">2024-09-04T21:09:15Z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