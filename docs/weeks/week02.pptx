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p:txBody>
          </p:sp>
        </mc:Choice>
      </mc:AlternateContent>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14:m><m:oMathPara xmlns:m="http://schemas.openxmlformats.org/officeDocument/2006/math"><m:oMathParaPr><m:jc m:val="center" /></m:oMathParaPr><m:oMath><m:r><m:t>S</m:t></m:r><m:r><m:rPr><m:sty m:val="p" /></m:rPr><m:t>=</m:t></m:r><m:rad><m:radPr><m:degHide m:val="1" /></m:radPr><m:deg /><m:e><m:f><m:fPr><m:type m:val="bar" /></m:fPr><m:num><m:r><m:t>Σ</m:t></m:r><m:sSup><m:e><m:d><m:dPr><m:begChr m:val="(" /><m:endChr m:val=")" /><m:sepChr m:val="" /><m:grow /></m:dPr><m:e><m:r><m:t>x</m:t></m:r><m:r><m:rPr><m:sty m:val="p" /></m:rPr><m:t>−</m:t></m:r><m:r><m:t>m</m:t></m:r></m:e></m:d></m:e><m:sup><m:r><m:t>2</m:t></m:r></m:sup></m:sSup></m:num><m:den><m:r><m:t>n</m:t></m:r></m:den></m:f></m:e></m:rad></m:oMath></m:oMathPara></a14:m></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indent="0" marL="0"><a:spcBef><a:spcPts val="3000" /></a:spcBef><a:buNone /></a:pPr><a:r><a:rPr b="1" /><a:t>EXAMPLE – Standard deviation of a set</a:t></a:r></a:p><a:p><a:pPr lvl="0" indent="0" marL="0"><a:buNone /></a:pPr><a:r><a:rPr /><a:t>Assume we have a small set of data: 2, 2, 4, 4. Using the formula for standard deviation above, where </a:t></a:r><a14:m><m:oMath xmlns:m="http://schemas.openxmlformats.org/officeDocument/2006/math"><m:r><m:t>x</m:t></m:r></m:oMath></a14:m><a:r><a:rPr /><a:t> is the score, </a:t></a:r><a14:m><m:oMath xmlns:m="http://schemas.openxmlformats.org/officeDocument/2006/math"><m:r><m:t>m</m:t></m:r></m:oMath></a14:m><a:r><a:rPr /><a:t> is the mean (sometimes referred to as </a:t></a:r><a14:m><m:oMath xmlns:m="http://schemas.openxmlformats.org/officeDocument/2006/math"><m:acc><m:accPr><m:chr m:val="‾" /></m:accPr><m:e><m:r><m:t>x</m:t></m:r></m:e></m:acc></m:oMath></a14:m><a:r><a:rPr /><a:t>), and </a:t></a:r><a14:m><m:oMath xmlns:m="http://schemas.openxmlformats.org/officeDocument/2006/math"><m:r><m:t>n</m:t></m:r></m:oMath></a14:m><a:r><a:rPr /><a:t> is the sample size, we get the following:</a:t></a:r></a:p><a:p><a:pPr lvl="0" indent="0" marL="0"><a:buNone /></a:pPr><a14:m><m:oMathPara xmlns:m="http://schemas.openxmlformats.org/officeDocument/2006/math"><m:oMathParaPr><m:jc m:val="center" /></m:oMathParaPr><m:oMath><m:f><m:fPr><m:type m:val="bar" /></m:fPr><m:num><m:sSup><m:e><m:d><m:dPr><m:begChr m:val="(" /><m:endChr m:val=")" /><m:sepChr m:val="" /><m:grow /></m:dPr><m:e><m:r><m:t>2</m:t></m:r><m:r><m:rPr><m:sty m:val="p" /></m:rPr><m:t>−</m:t></m:r><m:r><m:t>3</m:t></m:r></m:e></m:d></m:e><m:sup><m:r><m:t>2</m:t></m:r></m:sup></m:sSup><m:r><m:rPr><m:sty m:val="p" /></m:rPr><m:t>+</m:t></m:r><m:sSup><m:e><m:d><m:dPr><m:begChr m:val="(" /><m:endChr m:val=")" /><m:sepChr m:val="" /><m:grow /></m:dPr><m:e><m:r><m:t>2</m:t></m:r><m:r><m:rPr><m:sty m:val="p" /></m:rPr><m:t>−</m:t></m:r><m:r><m:t>3</m:t></m:r></m:e></m:d></m:e><m:sup><m:r><m:t>2</m:t></m:r></m:sup></m:sSup><m:r><m:rPr><m:sty m:val="p" /></m:rPr><m:t>+</m:t></m:r><m:sSup><m:e><m:d><m:dPr><m:begChr m:val="(" /><m:endChr m:val=")" /><m:sepChr m:val="" /><m:grow /></m:dPr><m:e><m:r><m:t>4</m:t></m:r><m:r><m:rPr><m:sty m:val="p" /></m:rPr><m:t>−</m:t></m:r><m:r><m:t>3</m:t></m:r></m:e></m:d></m:e><m:sup><m:r><m:t>2</m:t></m:r></m:sup></m:sSup><m:r><m:rPr><m:sty m:val="p" /></m:rPr><m:t>+</m:t></m:r><m:sSup><m:e><m:d><m:dPr><m:begChr m:val="(" /><m:endChr m:val=")" /><m:sepChr m:val="" /><m:grow /></m:dPr><m:e><m:r><m:t>4</m:t></m:r><m:r><m:rPr><m:sty m:val="p" /></m:rPr><m:t>−</m:t></m:r><m:r><m:t>3</m:t></m:r></m:e></m:d></m:e><m:sup><m:r><m:t>2</m:t></m:r></m:sup></m:sSup></m:num><m:den><m:r><m:t>4</m:t></m:r></m:den></m:f><m:r><m:rPr><m:sty m:val="p" /></m:rPr><m:t>=</m:t></m:r><m:f><m:fPr><m:type m:val="bar" /></m:fPr><m:num><m:r><m:t>1</m:t></m:r><m:r><m:rPr><m:sty m:val="p" /></m:rPr><m:t>+</m:t></m:r><m:r><m:t>1</m:t></m:r><m:r><m:rPr><m:sty m:val="p" /></m:rPr><m:t>+</m:t></m:r><m:r><m:t>1</m:t></m:r><m:r><m:rPr><m:sty m:val="p" /></m:rPr><m:t>+</m:t></m:r><m:r><m:t>1</m:t></m:r></m:num><m:den><m:r><m:t>4</m:t></m:r></m:den></m:f><m:r><m:rPr><m:sty m:val="p" /></m:rPr><m:t>=</m:t></m:r><m:r><m:t>1</m:t></m:r></m:oMath></m:oMathPara></a14:m></a:p><a:p><a:pPr lvl="0" indent="0" marL="0"><a:buNone /></a:pPr><a:r><a:rPr /><a:t>Most formulas of this nature are programmed into </a:t></a:r><a:r><a:rPr i="1" /><a:t>R/RStudio</a:t></a:r><a:r><a:rPr /><a:t>, but for more advanced modeling, we learn how to input raw data and formula into the software.</a:t></a:r></a:p></p:txBody></p:sp></mc:Choice></mc:AlternateContent></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quantification of information can help us understand and represent important situations.</a:t>
            </a:r>
          </a:p>
        </p:txBody>
      </p:sp>
      <p:pic>
        <p:nvPicPr>
          <p:cNvPr descr="img/wk2-quant.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We’ll begin by exploring the concept of a set, and how it is defined in mathematics and used to frame various situations.</a:t>
                </a:r>
              </a:p>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2</dc:title>
  <dc:creator>Nathan Alexander, PhD</dc:creator>
  <cp:keywords/>
  <dcterms:created xsi:type="dcterms:W3CDTF">2024-08-21T21:15:29Z</dcterms:created>
  <dcterms:modified xsi:type="dcterms:W3CDTF">2024-08-21T21:15:29Z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