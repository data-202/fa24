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p>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p:txBody>
          </p:sp>
        </mc:Choice>
      </mc:AlternateContent>
    </p:spTree>
  </p:cSld>
</p:sld>
</file>

<file path=ppt/slides/slide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14:m><m:oMathPara xmlns:m="http://schemas.openxmlformats.org/officeDocument/2006/math"><m:oMathParaPr><m:jc m:val="center" /></m:oMathParaPr><m:oMath><m:r><m:t>S</m:t></m:r><m:r><m:rPr><m:sty m:val="p" /></m:rPr><m:t>=</m:t></m:r><m:rad><m:radPr><m:degHide m:val="1" /></m:radPr><m:deg /><m:e><m:f><m:fPr><m:type m:val="bar" /></m:fPr><m:num><m:r><m:t>Σ</m:t></m:r><m:sSup><m:e><m:d><m:dPr><m:begChr m:val="(" /><m:endChr m:val=")" /><m:sepChr m:val="" /><m:grow /></m:dPr><m:e><m:r><m:t>x</m:t></m:r><m:r><m:rPr><m:sty m:val="p" /></m:rPr><m:t>−</m:t></m:r><m:r><m:t>m</m:t></m:r></m:e></m:d></m:e><m:sup><m:r><m:t>2</m:t></m:r></m:sup></m:sSup></m:num><m:den><m:r><m:t>n</m:t></m:r></m:den></m:f></m:e></m:rad></m:oMath></m:oMathPara></a14:m></a:p></p:txBody></p:sp><mc:AlternateContent xmlns:mc="http://schemas.openxmlformats.org/markup-compatibility/2006"><mc:Choice xmlns:a14="http://schemas.microsoft.com/office/drawing/2010/main" Requires="a14"><p:sp><p:nvSpPr><p:cNvPr id="3" name="Content Placeholder 2" /><p:cNvSpPr><a:spLocks noGrp="1" /></p:cNvSpPr><p:nvPr><p:ph idx="1" /></p:nvPr></p:nvSpPr><p:spPr /><p:txBody><a:bodyPr /><a:lstStyle /><a:p><a:pPr lvl="0" indent="0" marL="0"><a:spcBef><a:spcPts val="3000" /></a:spcBef><a:buNone /></a:pPr><a:r><a:rPr b="1" /><a:t>EXAMPLE – Standard deviation of a set</a:t></a:r></a:p><a:p><a:pPr lvl="0" indent="0" marL="0"><a:buNone /></a:pPr><a:r><a:rPr /><a:t>Assume we have a small set of data: 2, 2, 4, 4. Using the formula for standard deviation above, where </a:t></a:r><a14:m><m:oMath xmlns:m="http://schemas.openxmlformats.org/officeDocument/2006/math"><m:r><m:t>x</m:t></m:r></m:oMath></a14:m><a:r><a:rPr /><a:t> is the score, </a:t></a:r><a14:m><m:oMath xmlns:m="http://schemas.openxmlformats.org/officeDocument/2006/math"><m:r><m:t>m</m:t></m:r></m:oMath></a14:m><a:r><a:rPr /><a:t> is the mean (sometimes referred to as </a:t></a:r><a14:m><m:oMath xmlns:m="http://schemas.openxmlformats.org/officeDocument/2006/math"><m:acc><m:accPr><m:chr m:val="‾" /></m:accPr><m:e><m:r><m:t>x</m:t></m:r></m:e></m:acc></m:oMath></a14:m><a:r><a:rPr /><a:t>), and </a:t></a:r><a14:m><m:oMath xmlns:m="http://schemas.openxmlformats.org/officeDocument/2006/math"><m:r><m:t>n</m:t></m:r></m:oMath></a14:m><a:r><a:rPr /><a:t> is the sample size, we get the following:</a:t></a:r></a:p><a:p><a:pPr lvl="0" indent="0" marL="0"><a:buNone /></a:pPr><a14:m><m:oMathPara xmlns:m="http://schemas.openxmlformats.org/officeDocument/2006/math"><m:oMathParaPr><m:jc m:val="center" /></m:oMathParaPr><m:oMath><m:f><m:fPr><m:type m:val="bar" /></m:fPr><m:num><m:sSup><m:e><m:d><m:dPr><m:begChr m:val="(" /><m:endChr m:val=")" /><m:sepChr m:val="" /><m:grow /></m:dPr><m:e><m:r><m:t>2</m:t></m:r><m:r><m:rPr><m:sty m:val="p" /></m:rPr><m:t>−</m:t></m:r><m:r><m:t>3</m:t></m:r></m:e></m:d></m:e><m:sup><m:r><m:t>2</m:t></m:r></m:sup></m:sSup><m:r><m:rPr><m:sty m:val="p" /></m:rPr><m:t>+</m:t></m:r><m:sSup><m:e><m:d><m:dPr><m:begChr m:val="(" /><m:endChr m:val=")" /><m:sepChr m:val="" /><m:grow /></m:dPr><m:e><m:r><m:t>2</m:t></m:r><m:r><m:rPr><m:sty m:val="p" /></m:rPr><m:t>−</m:t></m:r><m:r><m:t>3</m:t></m:r></m:e></m:d></m:e><m:sup><m:r><m:t>2</m:t></m:r></m:sup></m:sSup><m:r><m:rPr><m:sty m:val="p" /></m:rPr><m:t>+</m:t></m:r><m:sSup><m:e><m:d><m:dPr><m:begChr m:val="(" /><m:endChr m:val=")" /><m:sepChr m:val="" /><m:grow /></m:dPr><m:e><m:r><m:t>4</m:t></m:r><m:r><m:rPr><m:sty m:val="p" /></m:rPr><m:t>−</m:t></m:r><m:r><m:t>3</m:t></m:r></m:e></m:d></m:e><m:sup><m:r><m:t>2</m:t></m:r></m:sup></m:sSup><m:r><m:rPr><m:sty m:val="p" /></m:rPr><m:t>+</m:t></m:r><m:sSup><m:e><m:d><m:dPr><m:begChr m:val="(" /><m:endChr m:val=")" /><m:sepChr m:val="" /><m:grow /></m:dPr><m:e><m:r><m:t>4</m:t></m:r><m:r><m:rPr><m:sty m:val="p" /></m:rPr><m:t>−</m:t></m:r><m:r><m:t>3</m:t></m:r></m:e></m:d></m:e><m:sup><m:r><m:t>2</m:t></m:r></m:sup></m:sSup></m:num><m:den><m:r><m:t>4</m:t></m:r></m:den></m:f><m:r><m:rPr><m:sty m:val="p" /></m:rPr><m:t>=</m:t></m:r><m:f><m:fPr><m:type m:val="bar" /></m:fPr><m:num><m:r><m:t>1</m:t></m:r><m:r><m:rPr><m:sty m:val="p" /></m:rPr><m:t>+</m:t></m:r><m:r><m:t>1</m:t></m:r><m:r><m:rPr><m:sty m:val="p" /></m:rPr><m:t>+</m:t></m:r><m:r><m:t>1</m:t></m:r><m:r><m:rPr><m:sty m:val="p" /></m:rPr><m:t>+</m:t></m:r><m:r><m:t>1</m:t></m:r></m:num><m:den><m:r><m:t>4</m:t></m:r></m:den></m:f><m:r><m:rPr><m:sty m:val="p" /></m:rPr><m:t>=</m:t></m:r><m:r><m:t>1</m:t></m:r></m:oMath></m:oMathPara></a14:m></a:p><a:p><a:pPr lvl="0" indent="0" marL="0"><a:buNone /></a:pPr><a:r><a:rPr /><a:t>Most formulas of this nature are programmed into </a:t></a:r><a:r><a:rPr i="1" /><a:t>R/RStudio</a:t></a:r><a:r><a:rPr /><a:t>, but for more advanced modeling, we learn how to input raw data and formula into the software.</a:t></a:r></a:p></p:txBody></p:sp></mc:Choice></mc:AlternateContent></p:spTree></p:cSld></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quantification of information can help us understand and represent important situations.</a:t>
            </a:r>
          </a:p>
        </p:txBody>
      </p:sp>
      <p:pic>
        <p:nvPicPr>
          <p:cNvPr descr="img/wk2-quant.png" id="0" name="Picture 1"/>
          <p:cNvPicPr>
            <a:picLocks noGrp="1" noChangeAspect="1"/>
          </p:cNvPicPr>
          <p:nvPr/>
        </p:nvPicPr>
        <p:blipFill>
          <a:blip r:embed="rId2"/>
          <a:stretch>
            <a:fillRect/>
          </a:stretch>
        </p:blipFill>
        <p:spPr bwMode="auto">
          <a:xfrm>
            <a:off x="3568700" y="673100"/>
            <a:ext cx="5105400" cy="3441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We’ll begin by exploring the concept of a set, and how it is defined in mathematics and used to frame various situations.</a:t>
                </a:r>
              </a:p>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2</dc:title>
  <dc:creator>Nathan Alexander, PhD</dc:creator>
  <cp:keywords/>
  <dcterms:created xsi:type="dcterms:W3CDTF">2024-08-21T20:31:40Z</dcterms:created>
  <dcterms:modified xsi:type="dcterms:W3CDTF">2024-08-21T20:31:40Z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